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6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7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All-Time High (=100)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Brent Oil</c:v>
                  </c:pt>
                  <c:pt idx="1">
                    <c:v>Gold</c:v>
                  </c:pt>
                  <c:pt idx="2">
                    <c:v>Silver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All-Time Low (% of high)</c:v>
                </c:pt>
              </c:strCache>
            </c:strRef>
          </c:tx>
          <c:spPr>
            <a:solidFill>
              <a:srgbClr val="1E2A44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Brent Oil</c:v>
                  </c:pt>
                  <c:pt idx="1">
                    <c:v>Gold</c:v>
                  </c:pt>
                  <c:pt idx="2">
                    <c:v>Silver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10</c:v>
                </c:pt>
                <c:pt idx="1">
                  <c:v>0.4</c:v>
                </c:pt>
                <c:pt idx="2">
                  <c:v>0.2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900" u="none">
                  <a:solidFill>
                    <a:srgbClr val="1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44"/>
                </a:solidFill>
                <a:latin typeface="Arial"/>
              </a:rPr>
              <a:t>Monthly Volatility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Monthly Volatility (%)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Brent Oil</c:v>
                  </c:pt>
                  <c:pt idx="1">
                    <c:v>Silver</c:v>
                  </c:pt>
                  <c:pt idx="2">
                    <c:v>Gold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9.1</c:v>
                </c:pt>
                <c:pt idx="1">
                  <c:v>7.7</c:v>
                </c:pt>
                <c:pt idx="2">
                  <c:v>4.3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A44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A44"/>
                </a:solidFill>
                <a:latin typeface="Arial"/>
              </a:rPr>
              <a:t>Annual-Average CoV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Annual-Avg CoV (%)</c:v>
                </c:pt>
              </c:strCache>
            </c:strRef>
          </c:tx>
          <c:spPr>
            <a:solidFill>
              <a:srgbClr val="1E2A4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Gold</c:v>
                  </c:pt>
                  <c:pt idx="1">
                    <c:v>Silver</c:v>
                  </c:pt>
                  <c:pt idx="2">
                    <c:v>Brent Oil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173.4</c:v>
                </c:pt>
                <c:pt idx="1">
                  <c:v>171.4</c:v>
                </c:pt>
                <c:pt idx="2">
                  <c:v>55.6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Brent Oil ($/bbl)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Jun-25</c:v>
                  </c:pt>
                  <c:pt idx="1">
                    <c:v>Jul-25</c:v>
                  </c:pt>
                  <c:pt idx="2">
                    <c:v>Aug-25</c:v>
                  </c:pt>
                  <c:pt idx="3">
                    <c:v>Sep-25</c:v>
                  </c:pt>
                  <c:pt idx="4">
                    <c:v>Oct-25</c:v>
                  </c:pt>
                  <c:pt idx="5">
                    <c:v>Nov-25</c:v>
                  </c:pt>
                  <c:pt idx="6">
                    <c:v>Dec-25</c:v>
                  </c:pt>
                  <c:pt idx="7">
                    <c:v>Jan-26</c:v>
                  </c:pt>
                  <c:pt idx="8">
                    <c:v>Feb-26</c:v>
                  </c:pt>
                  <c:pt idx="9">
                    <c:v>Mar-26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66.4</c:v>
                </c:pt>
                <c:pt idx="1">
                  <c:v>64.8</c:v>
                </c:pt>
                <c:pt idx="2">
                  <c:v>63.9</c:v>
                </c:pt>
                <c:pt idx="3">
                  <c:v>63.5</c:v>
                </c:pt>
                <c:pt idx="4">
                  <c:v>63.12</c:v>
                </c:pt>
                <c:pt idx="5">
                  <c:v>59.68</c:v>
                </c:pt>
                <c:pt idx="6">
                  <c:v>58.35</c:v>
                </c:pt>
                <c:pt idx="7">
                  <c:v>65.48</c:v>
                </c:pt>
                <c:pt idx="8">
                  <c:v>67.66</c:v>
                </c:pt>
                <c:pt idx="9">
                  <c:v>102.86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$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 (r)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0.00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Brent–Gold</c:v>
                  </c:pt>
                  <c:pt idx="1">
                    <c:v>Brent–Silver</c:v>
                  </c:pt>
                  <c:pt idx="2">
                    <c:v>Gold–Silver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0.4577</c:v>
                </c:pt>
                <c:pt idx="1">
                  <c:v>0.5148</c:v>
                </c:pt>
                <c:pt idx="2">
                  <c:v>0.9538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b="0" i="0" strike="noStrike" sz="1200" u="none">
                  <a:solidFill>
                    <a:srgbClr val="1B22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Share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41C30"/>
              </a:solidFill>
              <a:effectLst/>
            </c:spPr>
          </c:dPt>
          <c:dPt>
            <c:idx val="1"/>
            <c:bubble3D val="0"/>
            <c:spPr>
              <a:solidFill>
                <a:srgbClr val="C9A227"/>
              </a:solidFill>
              <a:effectLst/>
            </c:spPr>
          </c:dPt>
          <c:dPt>
            <c:idx val="2"/>
            <c:bubble3D val="0"/>
            <c:spPr>
              <a:solidFill>
                <a:srgbClr val="2E3B5C"/>
              </a:solidFill>
              <a:effectLst/>
            </c:spPr>
          </c:dPt>
          <c:dPt>
            <c:idx val="3"/>
            <c:bubble3D val="0"/>
            <c:spPr>
              <a:solidFill>
                <a:srgbClr val="5B6B87"/>
              </a:solidFill>
              <a:effectLst/>
            </c:spPr>
          </c:dPt>
          <c:dPt>
            <c:idx val="4"/>
            <c:bubble3D val="0"/>
            <c:spPr>
              <a:solidFill>
                <a:srgbClr val="E8CE6B"/>
              </a:solidFill>
              <a:effectLst/>
            </c:spPr>
          </c:dPt>
          <c:dPt>
            <c:idx val="5"/>
            <c:bubble3D val="0"/>
            <c:spPr>
              <a:solidFill>
                <a:srgbClr val="9FB0CC"/>
              </a:solidFill>
              <a:effectLst/>
            </c:spPr>
          </c:dPt>
          <c:dPt>
            <c:idx val="6"/>
            <c:bubble3D val="0"/>
            <c:spPr>
              <a:solidFill>
                <a:srgbClr val="C9CFD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4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5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6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Sheet1!$A$2:$A$8</c:f>
              <c:strCache>
                <c:ptCount val="7"/>
                <c:pt idx="0">
                  <c:v>USD</c:v>
                </c:pt>
                <c:pt idx="1">
                  <c:v>EUR</c:v>
                </c:pt>
                <c:pt idx="2">
                  <c:v>GBP</c:v>
                </c:pt>
                <c:pt idx="3">
                  <c:v>JPY</c:v>
                </c:pt>
                <c:pt idx="4">
                  <c:v>CNY</c:v>
                </c:pt>
                <c:pt idx="5">
                  <c:v>CAD</c:v>
                </c:pt>
                <c:pt idx="6">
                  <c:v>Other</c:v>
                </c:pt>
              </c:strCache>
            </c:strRef>
          </c:cat>
          <c:val>
            <c:numRef>
              <c:f>Sheet1!$B$2:$B$8</c:f>
              <c:numCache>
                <c:ptCount val="7"/>
                <c:pt idx="0">
                  <c:v>51.14</c:v>
                </c:pt>
                <c:pt idx="1">
                  <c:v>21.3</c:v>
                </c:pt>
                <c:pt idx="2">
                  <c:v>6.54</c:v>
                </c:pt>
                <c:pt idx="3">
                  <c:v>3.53</c:v>
                </c:pt>
                <c:pt idx="4">
                  <c:v>3.1</c:v>
                </c:pt>
                <c:pt idx="5">
                  <c:v>3.03</c:v>
                </c:pt>
                <c:pt idx="6">
                  <c:v>11.36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CNY Trade Finance Share (%)</c:v>
                </c:pt>
              </c:strCache>
            </c:strRef>
          </c:tx>
          <c:spPr>
            <a:solidFill>
              <a:srgbClr val="C9A227"/>
            </a:solidFill>
            <a:ln w="38100" cap="flat">
              <a:solidFill>
                <a:srgbClr val="C9A22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2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C9A227"/>
              </a:solidFill>
              <a:ln w="9525" cap="flat">
                <a:solidFill>
                  <a:srgbClr val="C9A22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Dec 2025</c:v>
                  </c:pt>
                  <c:pt idx="1">
                    <c:v>Jan 2026</c:v>
                  </c:pt>
                  <c:pt idx="2">
                    <c:v>Feb 2026</c:v>
                  </c:pt>
                  <c:pt idx="3">
                    <c:v>Mar 2026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8.3</c:v>
                </c:pt>
                <c:pt idx="1">
                  <c:v>8.46</c:v>
                </c:pt>
                <c:pt idx="2">
                  <c:v>5.9</c:v>
                </c:pt>
                <c:pt idx="3">
                  <c:v>8.04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B22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5"/>
        </c:scaling>
        <c:delete val="0"/>
        <c:axPos val="l"/>
        <c:majorGridlines>
          <c:spPr>
            <a:ln w="12700" cap="flat">
              <a:solidFill>
                <a:srgbClr val="EAEAEA"/>
              </a:solidFill>
              <a:prstDash val="solid"/>
              <a:round/>
            </a:ln>
          </c:spPr>
        </c:majorGridlines>
        <c:numFmt formatCode="0.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23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image" Target="../media/image-7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1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502920"/>
            <a:ext cx="384048" cy="384048"/>
          </a:xfrm>
          <a:prstGeom prst="rect">
            <a:avLst/>
          </a:prstGeom>
          <a:solidFill>
            <a:srgbClr val="2E3B5C"/>
          </a:solidFill>
          <a:ln/>
        </p:spPr>
      </p:sp>
      <p:pic>
        <p:nvPicPr>
          <p:cNvPr id="5" name="Image 0" descr="/home/claude/deck2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55778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484632"/>
            <a:ext cx="45720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2026 Markets Enter Uncharted Territory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48640" y="324612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Commodities &amp; Currency Markets: An Executive Briefing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48640" y="37947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 (1946–2026)   ·   Gold &amp; Silver (1915–2026)   ·   SWIFT Currency Tracker (Dec 2025–Mar 2026 data)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48640" y="5394960"/>
            <a:ext cx="384048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" y="55321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the Investment &amp; Strategy Committee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Prices Raise Urgent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6400800" cy="4480560"/>
          </a:xfrm>
          <a:prstGeom prst="roundRect">
            <a:avLst>
              <a:gd name="adj" fmla="val 1633"/>
            </a:avLst>
          </a:prstGeom>
          <a:solidFill>
            <a:srgbClr val="EDF1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/home/claude/deck2/icons/search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5129" y="1746961"/>
            <a:ext cx="392278" cy="39227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190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49808" y="2331720"/>
            <a:ext cx="580644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Oil, Gold, and Silver carry 80–110 years of price history. SWIFT tracks global currency payment shares monthly. Together they anchor how the committee reads market regime shifts.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49808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49808" y="3977640"/>
            <a:ext cx="58064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moves are structural shifts the committee should act on — and which are noise?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9808" y="4800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5166360"/>
            <a:ext cx="58064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2025–2026, a single geopolitical shock — the Hormuz Strait disruption — sent oil up 52% in a month, while gold and silver climbed on a separate, slower structural trend. Two different stories, no established playbook for either.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086600" y="1417320"/>
            <a:ext cx="4645152" cy="4480560"/>
          </a:xfrm>
          <a:prstGeom prst="roundRect">
            <a:avLst>
              <a:gd name="adj" fmla="val 1633"/>
            </a:avLst>
          </a:prstGeom>
          <a:solidFill>
            <a:srgbClr val="141C30"/>
          </a:solidFill>
          <a:ln/>
        </p:spPr>
      </p:sp>
      <p:sp>
        <p:nvSpPr>
          <p:cNvPr id="14" name="Text 11"/>
          <p:cNvSpPr/>
          <p:nvPr/>
        </p:nvSpPr>
        <p:spPr>
          <a:xfrm>
            <a:off x="7406640" y="16916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2026 SHOCK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406640" y="20574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Feb 28, 2026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7406640" y="2560320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US–Israel strikes on Iran; Strait of Hormuz disrupted — the route for ~20% of the world's seaborne oil.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7406640" y="3611880"/>
            <a:ext cx="402336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406640" y="3749040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400" dirty="0"/>
          </a:p>
        </p:txBody>
      </p:sp>
      <p:sp>
        <p:nvSpPr>
          <p:cNvPr id="19" name="Text 16"/>
          <p:cNvSpPr/>
          <p:nvPr/>
        </p:nvSpPr>
        <p:spPr>
          <a:xfrm>
            <a:off x="7406640" y="4370832"/>
            <a:ext cx="4023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Oil, Feb → Mar 2026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$67.66 → $102.86/bbl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406640" y="5120640"/>
            <a:ext cx="4023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briefing traces both stories — oil's sharp event shock, and the metals' longer structural climb — through to what the committee should do next.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ANSWER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Signals Demand Committee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141C30"/>
          </a:solidFill>
          <a:ln/>
        </p:spPr>
      </p:sp>
      <p:sp>
        <p:nvSpPr>
          <p:cNvPr id="5" name="Shape 3"/>
          <p:cNvSpPr/>
          <p:nvPr/>
        </p:nvSpPr>
        <p:spPr>
          <a:xfrm>
            <a:off x="1851660" y="1965960"/>
            <a:ext cx="731520" cy="7315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6" name="Image 0" descr="/home/claude/deck2/icons/coins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32127" y="2046427"/>
            <a:ext cx="570586" cy="57058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$5,277.89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3749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oz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914400" y="4206240"/>
            <a:ext cx="2606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Gold's all-time high (Feb 2026) — up 290% since 2016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233672" y="16002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141C30"/>
          </a:solidFill>
          <a:ln/>
        </p:spPr>
      </p:sp>
      <p:sp>
        <p:nvSpPr>
          <p:cNvPr id="12" name="Shape 9"/>
          <p:cNvSpPr/>
          <p:nvPr/>
        </p:nvSpPr>
        <p:spPr>
          <a:xfrm>
            <a:off x="5628132" y="1965960"/>
            <a:ext cx="731520" cy="7315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13" name="Image 1" descr="/home/claude/deck2/icons/oilca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8599" y="2046427"/>
            <a:ext cx="570586" cy="57058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16552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+52%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4416552" y="3749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one-month move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690872" y="4206240"/>
            <a:ext cx="2606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53712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Brent's Hormuz-shock spike — the sharpest event-driven move of the three assets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10144" y="1600200"/>
            <a:ext cx="3520440" cy="4251960"/>
          </a:xfrm>
          <a:prstGeom prst="roundRect">
            <a:avLst>
              <a:gd name="adj" fmla="val 2078"/>
            </a:avLst>
          </a:prstGeom>
          <a:solidFill>
            <a:srgbClr val="141C30"/>
          </a:solidFill>
          <a:ln/>
        </p:spPr>
      </p:sp>
      <p:sp>
        <p:nvSpPr>
          <p:cNvPr id="19" name="Shape 15"/>
          <p:cNvSpPr/>
          <p:nvPr/>
        </p:nvSpPr>
        <p:spPr>
          <a:xfrm>
            <a:off x="9404604" y="1965960"/>
            <a:ext cx="731520" cy="7315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20" name="Image 2" descr="/home/claude/deck2/icons/globe_nav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5071" y="2046427"/>
            <a:ext cx="570586" cy="57058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193024" y="2971800"/>
            <a:ext cx="31546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51.14%</a:t>
            </a:r>
            <a:endParaRPr lang="en-US" sz="3000" dirty="0"/>
          </a:p>
        </p:txBody>
      </p:sp>
      <p:sp>
        <p:nvSpPr>
          <p:cNvPr id="22" name="Text 17"/>
          <p:cNvSpPr/>
          <p:nvPr/>
        </p:nvSpPr>
        <p:spPr>
          <a:xfrm>
            <a:off x="8193024" y="3749040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payment share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8467344" y="4206240"/>
            <a:ext cx="260604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330184" y="4389120"/>
            <a:ext cx="28803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share (Mar 2026 data); CNY ranks 5th at just 3.10%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solidFill>
            <a:srgbClr val="2E3B5C"/>
          </a:solidFill>
          <a:ln/>
        </p:spPr>
      </p:sp>
      <p:pic>
        <p:nvPicPr>
          <p:cNvPr id="5" name="Image 0" descr="/home/claude/deck2/icons/oilcan_go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59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Commodities Enter a Supercycle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century of Brent Oil, Gold, and Silver data reveals where 2026 fits in the cycle — and why oil's story is different from the metals'.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 &amp; Silver Just Rewrote History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All-time high vs. all-time low, indexed to 100 = peak (log scale to compare across assets)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7607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83080"/>
          <a:ext cx="5257800" cy="1463040"/>
        </p:xfrm>
        <a:graphic>
          <a:graphicData uri="http://schemas.openxmlformats.org/drawingml/2006/table">
            <a:tbl>
              <a:tblPr/>
              <a:tblGrid>
                <a:gridCol w="1463040"/>
                <a:gridCol w="1920240"/>
                <a:gridCol w="187452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All-Time High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All-Time Low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Oil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$211.21/bbl (2008)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$21.11/bbl (1946)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$5,277.89/oz (2026)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$19.25/oz (1915)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$113.95/oz (2026)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$0.28/oz (1932)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3429000"/>
            <a:ext cx="5257800" cy="2148840"/>
          </a:xfrm>
          <a:prstGeom prst="roundRect">
            <a:avLst>
              <a:gd name="adj" fmla="val 2553"/>
            </a:avLst>
          </a:prstGeom>
          <a:solidFill>
            <a:srgbClr val="EDF1F7"/>
          </a:solidFill>
          <a:ln/>
        </p:spPr>
      </p:sp>
      <p:sp>
        <p:nvSpPr>
          <p:cNvPr id="8" name="Text 4"/>
          <p:cNvSpPr/>
          <p:nvPr/>
        </p:nvSpPr>
        <p:spPr>
          <a:xfrm>
            <a:off x="6720840" y="3611880"/>
            <a:ext cx="47548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silver hit brand-new records in 2026. Oil's record dates back to 2008 — its current price ($102.86) sits 51% below that peak, even after the Hormuz spike.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61996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Brent_Oil.csv, Gold_100years.csv, silver_100_years.csv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Metals Compounded While Oil Stalled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675120" cy="3017520"/>
        </p:xfrm>
        <a:graphic>
          <a:graphicData uri="http://schemas.openxmlformats.org/drawingml/2006/table">
            <a:tbl>
              <a:tblPr/>
              <a:tblGrid>
                <a:gridCol w="1280160"/>
                <a:gridCol w="1920240"/>
                <a:gridCol w="1737360"/>
                <a:gridCol w="1737360"/>
              </a:tblGrid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Oil ($/bbl)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($/oz)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($/oz)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60.79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1,249.98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84.91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1,265.60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15.64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49.19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1,784.66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106.45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1,798.96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79.83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2,404.58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4,881.62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406640" y="160020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141C30"/>
          </a:solidFill>
          <a:ln/>
        </p:spPr>
      </p:sp>
      <p:sp>
        <p:nvSpPr>
          <p:cNvPr id="6" name="Text 3"/>
          <p:cNvSpPr/>
          <p:nvPr/>
        </p:nvSpPr>
        <p:spPr>
          <a:xfrm>
            <a:off x="7635240" y="167335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+290%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9281160" y="167335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Gold, 2016 → 2026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265176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141C30"/>
          </a:solidFill>
          <a:ln/>
        </p:spPr>
      </p:sp>
      <p:sp>
        <p:nvSpPr>
          <p:cNvPr id="9" name="Text 6"/>
          <p:cNvSpPr/>
          <p:nvPr/>
        </p:nvSpPr>
        <p:spPr>
          <a:xfrm>
            <a:off x="7635240" y="272491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+461%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9281160" y="272491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Silver, 2016 → 2026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406640" y="3703320"/>
            <a:ext cx="4297680" cy="868680"/>
          </a:xfrm>
          <a:prstGeom prst="roundRect">
            <a:avLst>
              <a:gd name="adj" fmla="val 6316"/>
            </a:avLst>
          </a:prstGeom>
          <a:solidFill>
            <a:srgbClr val="141C30"/>
          </a:solidFill>
          <a:ln/>
        </p:spPr>
      </p:sp>
      <p:sp>
        <p:nvSpPr>
          <p:cNvPr id="12" name="Text 9"/>
          <p:cNvSpPr/>
          <p:nvPr/>
        </p:nvSpPr>
        <p:spPr>
          <a:xfrm>
            <a:off x="7635240" y="3776472"/>
            <a:ext cx="1645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+29%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9281160" y="3776472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Oil, 2016 → 2026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457200" y="4846320"/>
            <a:ext cx="11247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2016 and 2026, the metals compounded structurally while oil simply cycled back to a similar level — a fundamentally different growth pattern, not just a different magnitude.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457200" y="5760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DSB_Part1_Analysis.ipynb, Table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Oil Swings Hardest Month to Month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different lenses on volatility — short-term monthly moves vs. long-run dispersion across years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3383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6" name="Chart 1" descr=""/>
          <p:cNvGraphicFramePr/>
          <p:nvPr/>
        </p:nvGraphicFramePr>
        <p:xfrm>
          <a:off x="3977640" y="1691640"/>
          <a:ext cx="338328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7589520" y="1691640"/>
            <a:ext cx="4114800" cy="3017520"/>
          </a:xfrm>
          <a:prstGeom prst="roundRect">
            <a:avLst>
              <a:gd name="adj" fmla="val 1818"/>
            </a:avLst>
          </a:prstGeom>
          <a:solidFill>
            <a:srgbClr val="EDF1F7"/>
          </a:solidFill>
          <a:ln/>
        </p:spPr>
      </p:sp>
      <p:sp>
        <p:nvSpPr>
          <p:cNvPr id="8" name="Shape 4"/>
          <p:cNvSpPr/>
          <p:nvPr/>
        </p:nvSpPr>
        <p:spPr>
          <a:xfrm>
            <a:off x="7818120" y="192024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/home/claude/deck2/icons/chart_go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441" y="1975561"/>
            <a:ext cx="392278" cy="39227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58200" y="196596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SPLIT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7818120" y="2514600"/>
            <a:ext cx="3657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short-term (monthly) volatility at 9.1% — driven by event shocks like Hormuz.
</a:t>
            </a:r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Metals: 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year-to-year dispersion (~172%) reflects a century-long structural climb, not instability.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57200" y="57607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DSB_Part1_Analysis.ipynb, Table 11 (Cell 44)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 · EVENT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Iran–Hormuz Shock: Oil's Real Story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Oil, June 2025 – March 2026: drifting down through late 2025, then +52% in the Hormuz month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94944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89520" y="1691640"/>
            <a:ext cx="4114800" cy="4251960"/>
          </a:xfrm>
          <a:prstGeom prst="roundRect">
            <a:avLst>
              <a:gd name="adj" fmla="val 1333"/>
            </a:avLst>
          </a:prstGeom>
          <a:solidFill>
            <a:srgbClr val="141C30"/>
          </a:solidFill>
          <a:ln/>
        </p:spPr>
      </p:sp>
      <p:sp>
        <p:nvSpPr>
          <p:cNvPr id="7" name="Shape 4"/>
          <p:cNvSpPr/>
          <p:nvPr/>
        </p:nvSpPr>
        <p:spPr>
          <a:xfrm>
            <a:off x="7818120" y="1920240"/>
            <a:ext cx="457200" cy="45720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8" name="Image 0" descr="/home/claude/deck2/icons/shock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8412" y="19705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412480" y="19933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FEBRUARY 2026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818120" y="242316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US–Israel strikes on Iranian nuclear facilities, followed by Iran's disruption of the Strait of Hormuz — the route for ~20% of the world's seaborne oil.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818120" y="3566160"/>
            <a:ext cx="365760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818120" y="3703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$67.66  →  $102.86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7818120" y="4160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Oil, February → March 2026 (+52.0%)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7818120" y="4617720"/>
            <a:ext cx="365760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818120" y="4754880"/>
            <a:ext cx="36576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move combines a physical shortage with an estimated $10–$30/bbl fear premium. By March, price sat sharply above both the 12-month MA (~$67.3) and 60-month MA (~$84.2) — a breakout, not a trend.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58064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Brent_Oil.csv; Critical New Context: The 2026 Iran War &amp; GCC Crisis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 Boom Lifted Oil and Metals Alike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6675120" cy="1554480"/>
        </p:xfrm>
        <a:graphic>
          <a:graphicData uri="http://schemas.openxmlformats.org/drawingml/2006/table">
            <a:tbl>
              <a:tblPr/>
              <a:tblGrid>
                <a:gridCol w="1188720"/>
                <a:gridCol w="1965960"/>
                <a:gridCol w="1783080"/>
                <a:gridCol w="1737360"/>
              </a:tblGrid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Brent Oil (avg $/bbl)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Gold (avg $/oz)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Silver (avg $/oz)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119.10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704.68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13.51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150.96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880.21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14.98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98.01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982.65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14.77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89520" y="1600200"/>
            <a:ext cx="4114800" cy="1554480"/>
          </a:xfrm>
          <a:prstGeom prst="roundRect">
            <a:avLst>
              <a:gd name="adj" fmla="val 3529"/>
            </a:avLst>
          </a:prstGeom>
          <a:solidFill>
            <a:srgbClr val="EDF1F7"/>
          </a:solidFill>
          <a:ln/>
        </p:spPr>
      </p:sp>
      <p:sp>
        <p:nvSpPr>
          <p:cNvPr id="6" name="Shape 3"/>
          <p:cNvSpPr/>
          <p:nvPr/>
        </p:nvSpPr>
        <p:spPr>
          <a:xfrm>
            <a:off x="7818120" y="1783080"/>
            <a:ext cx="457200" cy="457200"/>
          </a:xfrm>
          <a:prstGeom prst="ellipse">
            <a:avLst/>
          </a:prstGeom>
          <a:solidFill>
            <a:srgbClr val="1E2A44"/>
          </a:solidFill>
          <a:ln/>
        </p:spPr>
      </p:sp>
      <p:pic>
        <p:nvPicPr>
          <p:cNvPr id="7" name="Image 0" descr="/home/claude/deck2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8412" y="1833372"/>
            <a:ext cx="356616" cy="35661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0" y="18288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7818120" y="2148840"/>
            <a:ext cx="3703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crashed 35% the year after its 2008 peak. Gold and silver held their gains — a hedge signal for downturns, not just booms.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57200" y="34290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41C30"/>
          </a:solidFill>
          <a:ln/>
        </p:spPr>
      </p:sp>
      <p:sp>
        <p:nvSpPr>
          <p:cNvPr id="11" name="Text 7"/>
          <p:cNvSpPr/>
          <p:nvPr/>
        </p:nvSpPr>
        <p:spPr>
          <a:xfrm>
            <a:off x="77724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2007 → 2008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77724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0" y="4114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+26.7%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77724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743200" y="4663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+24.9%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77724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5212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+10.8%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309360" y="3429000"/>
            <a:ext cx="5486400" cy="2377440"/>
          </a:xfrm>
          <a:prstGeom prst="roundRect">
            <a:avLst>
              <a:gd name="adj" fmla="val 2308"/>
            </a:avLst>
          </a:prstGeom>
          <a:solidFill>
            <a:srgbClr val="141C30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36118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2008 → 2009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629400" y="4114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595360" y="411480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8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−35.1%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6629400" y="466344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595360" y="466344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+11.6%</a:t>
            </a:r>
            <a:endParaRPr lang="en-US" sz="1600" dirty="0"/>
          </a:p>
        </p:txBody>
      </p:sp>
      <p:sp>
        <p:nvSpPr>
          <p:cNvPr id="24" name="Text 20"/>
          <p:cNvSpPr/>
          <p:nvPr/>
        </p:nvSpPr>
        <p:spPr>
          <a:xfrm>
            <a:off x="6629400" y="5212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8595360" y="5212080"/>
            <a:ext cx="2834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08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−1.4%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457200" y="6035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DSB_Part1_Analysis.ipynb, Table 12 (Cell 46)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Century of Cycles Peaks in 2026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3840480"/>
            <a:ext cx="10972800" cy="0"/>
          </a:xfrm>
          <a:prstGeom prst="line">
            <a:avLst/>
          </a:prstGeom>
          <a:noFill/>
          <a:ln w="25400">
            <a:solidFill>
              <a:srgbClr val="2E3B5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7607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1946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-137160" y="4297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Brent price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begins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7063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1980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057400" y="2331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peaks at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$149.86 (2nd shock)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6519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8056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251960" y="4297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all-time high: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$211.21 (GFC)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15975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2011–13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46520" y="2331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plateau,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$135–142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35431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40050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41080" y="429768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at $106.45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(geopolitical shock)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548872" y="3776472"/>
            <a:ext cx="128016" cy="128016"/>
          </a:xfrm>
          <a:prstGeom prst="ellipse">
            <a:avLst/>
          </a:prstGeom>
          <a:solidFill>
            <a:srgbClr val="C9A2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064240" y="31546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2025–26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835640" y="233172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&amp; silver hit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all-time highs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51663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/>
        </p:spPr>
      </p:sp>
      <p:sp>
        <p:nvSpPr>
          <p:cNvPr id="24" name="Text 22"/>
          <p:cNvSpPr/>
          <p:nvPr/>
        </p:nvSpPr>
        <p:spPr>
          <a:xfrm>
            <a:off x="731520" y="528523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Oil's biggest moments cluster around geopolitical and financial shocks (1980, 2008, 2022, and now 2026). Gold and silver's rally is different: a sustained, multi-year climb into 2026.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172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DSB_Part1_Analysis.ipynb, Table 5 (Cell 14)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 · COMMODITIES · BONUS ANALYTICS (B2–B4)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Metals Move Together; Oil Doesn't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correlation of annual average prices, 1946/1915–2026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667512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406640" y="1691640"/>
            <a:ext cx="4297680" cy="3566160"/>
          </a:xfrm>
          <a:prstGeom prst="roundRect">
            <a:avLst>
              <a:gd name="adj" fmla="val 1538"/>
            </a:avLst>
          </a:prstGeom>
          <a:solidFill>
            <a:srgbClr val="141C30"/>
          </a:solidFill>
          <a:ln/>
        </p:spPr>
      </p:sp>
      <p:sp>
        <p:nvSpPr>
          <p:cNvPr id="7" name="Shape 4"/>
          <p:cNvSpPr/>
          <p:nvPr/>
        </p:nvSpPr>
        <p:spPr>
          <a:xfrm>
            <a:off x="7635240" y="1920240"/>
            <a:ext cx="457200" cy="45720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8" name="Image 0" descr="/home/claude/deck2/icons/link_nav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5532" y="19705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229600" y="196596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635240" y="242316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and Silver: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0.9538 — a shared safe-haven / monetary driver.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Oil vs. either metal: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moderate (r = 0.46–0.51) — distinct supply-side drivers.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pair is negative,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cross-commodity diversification benefit within this basket is limited.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7200" y="54406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 use annual averages; monthly-frequency correlations may differ and are not a trading signal on their own.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57200" y="603504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DSB_Part1_Analysis.ipynb, Bonus B2–B3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148840"/>
            <a:ext cx="822960" cy="822960"/>
          </a:xfrm>
          <a:prstGeom prst="rect">
            <a:avLst/>
          </a:prstGeom>
          <a:solidFill>
            <a:srgbClr val="2E3B5C"/>
          </a:solidFill>
          <a:ln/>
        </p:spPr>
      </p:sp>
      <p:pic>
        <p:nvPicPr>
          <p:cNvPr id="5" name="Image 0" descr="/home/claude/deck2/icons/globe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2359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6928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48640" y="35204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Currency Power Concentrates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548640" y="4343400"/>
            <a:ext cx="9418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payment-share data — read against BRICS tariffs, the Kazan Summit, and the April stablecoin pilot — shows how dominant, and how contested, the current currency order is.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CURRENCY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USD Still Commands Over Half of Flows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Payment Share by currency — March 2026 data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45920"/>
          <a:ext cx="54864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309360" y="1645920"/>
            <a:ext cx="5394960" cy="1920240"/>
          </a:xfrm>
          <a:prstGeom prst="roundRect">
            <a:avLst>
              <a:gd name="adj" fmla="val 2857"/>
            </a:avLst>
          </a:prstGeom>
          <a:solidFill>
            <a:srgbClr val="141C30"/>
          </a:solidFill>
          <a:ln/>
        </p:spPr>
      </p:sp>
      <p:sp>
        <p:nvSpPr>
          <p:cNvPr id="7" name="Text 4"/>
          <p:cNvSpPr/>
          <p:nvPr/>
        </p:nvSpPr>
        <p:spPr>
          <a:xfrm>
            <a:off x="6583680" y="1828800"/>
            <a:ext cx="3657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51.14%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583680" y="251460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 global payment share — more than double the EUR (21.30%) and 16x the CNY (3.10%)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309360" y="379476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EDF1F7"/>
          </a:solidFill>
          <a:ln/>
        </p:spPr>
      </p:sp>
      <p:sp>
        <p:nvSpPr>
          <p:cNvPr id="10" name="Text 7"/>
          <p:cNvSpPr/>
          <p:nvPr/>
        </p:nvSpPr>
        <p:spPr>
          <a:xfrm>
            <a:off x="6583680" y="4023360"/>
            <a:ext cx="484632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currency has come close to challenging USD dominance in the reports tracked so far in 2026 — though the February dip to 49.25% (see next section) shows the share is not perfectly stable month to month.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59893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swift_currency_tracker_all_reports.csv, Table 7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CURRENCY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CNY Climbs to 5th, Hong Kong Anchors 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5448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appearances (Jan–Apr 2026, 4 reports)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5303520" cy="3017520"/>
        </p:xfrm>
        <a:graphic>
          <a:graphicData uri="http://schemas.openxmlformats.org/drawingml/2006/table">
            <a:tbl>
              <a:tblPr/>
              <a:tblGrid>
                <a:gridCol w="3108960"/>
                <a:gridCol w="2194560"/>
              </a:tblGrid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 in Top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GBP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/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35040" y="1554480"/>
            <a:ext cx="5669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Offshore RMB activity by economy (latest)</a:t>
            </a:r>
            <a:endParaRPr lang="en-US" sz="125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920240"/>
          <a:ext cx="5669280" cy="3017520"/>
        </p:xfrm>
        <a:graphic>
          <a:graphicData uri="http://schemas.openxmlformats.org/drawingml/2006/table">
            <a:tbl>
              <a:tblPr/>
              <a:tblGrid>
                <a:gridCol w="3566160"/>
                <a:gridCol w="2103120"/>
              </a:tblGrid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Economy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Hong Kong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C9A22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75.23%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Kingdom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6.90%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Singapore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2.81%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0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Taiwan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B22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457200" y="5166360"/>
            <a:ext cx="11247120" cy="914400"/>
          </a:xfrm>
          <a:prstGeom prst="roundRect">
            <a:avLst>
              <a:gd name="adj" fmla="val 6000"/>
            </a:avLst>
          </a:prstGeom>
          <a:solidFill>
            <a:srgbClr val="EDF1F7"/>
          </a:solidFill>
          <a:ln/>
        </p:spPr>
      </p:sp>
      <p:sp>
        <p:nvSpPr>
          <p:cNvPr id="9" name="Text 5"/>
          <p:cNvSpPr/>
          <p:nvPr/>
        </p:nvSpPr>
        <p:spPr>
          <a:xfrm>
            <a:off x="731520" y="5285232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CNY appears in the global top 5 in only half of tracked months, and its offshore activity still runs almost entirely through one hub: Hong Kong.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457200" y="617220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swift_currency_tracker_all_reports.csv, Tables 8 &amp; Q23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II · CURRENCY · EVENT SPOTLIGHT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BRICS De-dollarization Pressure Shows Up in the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CNY trade-finance share dipped sharply in the war month, then rebounded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691640"/>
          <a:ext cx="55778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263640" y="1691640"/>
            <a:ext cx="5440680" cy="4343400"/>
          </a:xfrm>
          <a:prstGeom prst="roundRect">
            <a:avLst>
              <a:gd name="adj" fmla="val 1263"/>
            </a:avLst>
          </a:prstGeom>
          <a:solidFill>
            <a:srgbClr val="141C30"/>
          </a:solidFill>
          <a:ln/>
        </p:spPr>
      </p:sp>
      <p:sp>
        <p:nvSpPr>
          <p:cNvPr id="7" name="Shape 4"/>
          <p:cNvSpPr/>
          <p:nvPr/>
        </p:nvSpPr>
        <p:spPr>
          <a:xfrm>
            <a:off x="6492240" y="1920240"/>
            <a:ext cx="457200" cy="45720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8" name="Image 0" descr="/home/claude/deck2/icons/trenddown_go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2532" y="1970532"/>
            <a:ext cx="356616" cy="35661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086600" y="199339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IN PLAY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6492240" y="2423160"/>
            <a:ext cx="50292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2025: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Saudi Aramco invoices China in non-dollar currencies; BRICS Kazan Summit discusses a multipolar order.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Jan 2026: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 BRICS tariff takes effect — trade-war escalation.
</a:t>
            </a:r>
            <a:pPr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2026: </a:t>
            </a:r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BRICS emergency stablecoin (gold + oil + yuan) launched — alternative payment rails accelerate.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6492240" y="4617720"/>
            <a:ext cx="5029200" cy="0"/>
          </a:xfrm>
          <a:prstGeom prst="line">
            <a:avLst/>
          </a:prstGeom>
          <a:noFill/>
          <a:ln w="12700">
            <a:solidFill>
              <a:srgbClr val="2E3B5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4754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February dip (8.46% → 5.90%) is genuinely open: it could reflect real demand contraction, disrupted SWIFT messaging around the conflict, or settlement moving onto BRICS Pay. The tracker alone can't distinguish these.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60807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swift_currency_tracker_all_reports.csv; Wall Street Ledger (Apr 13, 2026); Reserve Storm report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Moves for the Investment Committee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E2A44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" y="1828800"/>
            <a:ext cx="502920" cy="5029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8" name="Image 0" descr="/home/claude/deck2/icons/shield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1121" y="1884121"/>
            <a:ext cx="392278" cy="39227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01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Hold Metals as Structural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85800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Gold/silver gains reflect a multi-year trend, not a spike — size positions for a hold, not a trade.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251960" y="1600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E2A44"/>
          </a:solidFill>
          <a:ln/>
        </p:spPr>
      </p:sp>
      <p:sp>
        <p:nvSpPr>
          <p:cNvPr id="12" name="Shape 9"/>
          <p:cNvSpPr/>
          <p:nvPr/>
        </p:nvSpPr>
        <p:spPr>
          <a:xfrm>
            <a:off x="4480560" y="1828800"/>
            <a:ext cx="502920" cy="5029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13" name="Image 1" descr="/home/claude/deck2/icons/oilcan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5881" y="1884121"/>
            <a:ext cx="392278" cy="39227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20640" y="1801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Oil, Don't Trend It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480560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 monthly swings, and a price now sharply above both moving averages, favor short-horizon positioning over long directional bets.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046720" y="160020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E2A44"/>
          </a:solidFill>
          <a:ln/>
        </p:spPr>
      </p:sp>
      <p:sp>
        <p:nvSpPr>
          <p:cNvPr id="17" name="Shape 13"/>
          <p:cNvSpPr/>
          <p:nvPr/>
        </p:nvSpPr>
        <p:spPr>
          <a:xfrm>
            <a:off x="8275320" y="1828800"/>
            <a:ext cx="502920" cy="5029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18" name="Image 2" descr="/home/claude/deck2/icons/glob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0641" y="1884121"/>
            <a:ext cx="392278" cy="39227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915400" y="18013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 USD/EUR as Core FX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8275320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near-term dominance shift is signaled by the data — but the Feb dip to 49.25% shows the share does move with events.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57200" y="3794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E2A44"/>
          </a:solidFill>
          <a:ln/>
        </p:spPr>
      </p:sp>
      <p:sp>
        <p:nvSpPr>
          <p:cNvPr id="22" name="Shape 17"/>
          <p:cNvSpPr/>
          <p:nvPr/>
        </p:nvSpPr>
        <p:spPr>
          <a:xfrm>
            <a:off x="685800" y="4023360"/>
            <a:ext cx="502920" cy="5029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23" name="Image 3" descr="/home/claude/deck2/icons/search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121" y="4078681"/>
            <a:ext cx="392278" cy="39227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3995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Watch Hong Kong RMB Flow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8580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Clearing volume through Hong Kong is the leading indicator for CNY internationalization.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4251960" y="3794760"/>
            <a:ext cx="3611880" cy="1965960"/>
          </a:xfrm>
          <a:prstGeom prst="roundRect">
            <a:avLst>
              <a:gd name="adj" fmla="val 2791"/>
            </a:avLst>
          </a:prstGeom>
          <a:solidFill>
            <a:srgbClr val="1E2A44"/>
          </a:solidFill>
          <a:ln/>
        </p:spPr>
      </p:sp>
      <p:sp>
        <p:nvSpPr>
          <p:cNvPr id="27" name="Shape 21"/>
          <p:cNvSpPr/>
          <p:nvPr/>
        </p:nvSpPr>
        <p:spPr>
          <a:xfrm>
            <a:off x="4480560" y="4023360"/>
            <a:ext cx="502920" cy="50292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28" name="Image 4" descr="/home/claude/deck2/icons/trenddown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881" y="4078681"/>
            <a:ext cx="392278" cy="392278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120640" y="399592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CE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Re-underwrite Hormuz-Linked Exposure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4480560" y="46634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choke point moved oil 52% in a month — stress-test any position or contract assuming uninterrupted Gulf transit.</a:t>
            </a:r>
            <a:endParaRPr lang="en-US" sz="1100" dirty="0"/>
          </a:p>
        </p:txBody>
      </p:sp>
      <p:sp>
        <p:nvSpPr>
          <p:cNvPr id="31" name="Text 24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41C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Team &amp; Notes on This Analysis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920240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Vaibhav Malhotra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226771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 ·  Team Lead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66160" y="1828800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9" name="Text 7"/>
          <p:cNvSpPr/>
          <p:nvPr/>
        </p:nvSpPr>
        <p:spPr>
          <a:xfrm>
            <a:off x="3730752" y="1920240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Kaushik Reddy Regalla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730752" y="2267712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Engineering  ·  Core Team Lead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807208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2898648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Surya Koushik Palla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1792" y="3246120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 ·  Member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566160" y="2807208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15" name="Text 13"/>
          <p:cNvSpPr/>
          <p:nvPr/>
        </p:nvSpPr>
        <p:spPr>
          <a:xfrm>
            <a:off x="3730752" y="2898648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 Ravindra Singh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30752" y="3246120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Research  ·  Member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785616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18" name="Text 16"/>
          <p:cNvSpPr/>
          <p:nvPr/>
        </p:nvSpPr>
        <p:spPr>
          <a:xfrm>
            <a:off x="621792" y="3877056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Prashant Pinniboyina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224528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 ·  Member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66160" y="3785616"/>
            <a:ext cx="2880360" cy="868680"/>
          </a:xfrm>
          <a:prstGeom prst="roundRect">
            <a:avLst>
              <a:gd name="adj" fmla="val 5263"/>
            </a:avLst>
          </a:prstGeom>
          <a:solidFill>
            <a:srgbClr val="EDF1F7"/>
          </a:solidFill>
          <a:ln/>
        </p:spPr>
      </p:sp>
      <p:sp>
        <p:nvSpPr>
          <p:cNvPr id="21" name="Text 19"/>
          <p:cNvSpPr/>
          <p:nvPr/>
        </p:nvSpPr>
        <p:spPr>
          <a:xfrm>
            <a:off x="3730752" y="3877056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C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Yash David Bedekar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730752" y="4224528"/>
            <a:ext cx="255117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 ·  Member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46520" y="1508760"/>
            <a:ext cx="5257800" cy="4526280"/>
          </a:xfrm>
          <a:prstGeom prst="roundRect">
            <a:avLst>
              <a:gd name="adj" fmla="val 1212"/>
            </a:avLst>
          </a:prstGeom>
          <a:solidFill>
            <a:srgbClr val="141C30"/>
          </a:solidFill>
          <a:ln/>
        </p:spPr>
      </p:sp>
      <p:sp>
        <p:nvSpPr>
          <p:cNvPr id="24" name="Shape 22"/>
          <p:cNvSpPr/>
          <p:nvPr/>
        </p:nvSpPr>
        <p:spPr>
          <a:xfrm>
            <a:off x="6675120" y="1737360"/>
            <a:ext cx="457200" cy="457200"/>
          </a:xfrm>
          <a:prstGeom prst="ellipse">
            <a:avLst/>
          </a:prstGeom>
          <a:solidFill>
            <a:srgbClr val="2E3B5C"/>
          </a:solidFill>
          <a:ln/>
        </p:spPr>
      </p:sp>
      <p:pic>
        <p:nvPicPr>
          <p:cNvPr id="25" name="Image 0" descr="/home/claude/deck2/icons/notes_nav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5412" y="1787652"/>
            <a:ext cx="356616" cy="356616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269480" y="1810512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CAVEATS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672084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6995160" y="228600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SWIFT data covers only 4 reporting months (Dec 2025–Mar 2026) — currency conclusions should be revisited as more data arrives.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20840" y="315468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6995160" y="315468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coefficients (r) use annual averages, not monthly data, and are not a trading signal on their own.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720840" y="40233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995160" y="402336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linkages throughout this briefing rest on timing, not proven causation.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720840" y="489204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995160" y="4892040"/>
            <a:ext cx="44805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FB0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event reports (Wall Street Ledger, Reserve Storm, Critical New Context) are the assignment's evidence base, not independently verified primary sources.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57200" y="6172200"/>
            <a:ext cx="10972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— 12 tables, 7 figures, plus bonus analytics — in DSB_Part1_Analysis.ipynb and the companion business report.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457200" y="65105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41C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-822960"/>
            <a:ext cx="2743200" cy="2743200"/>
          </a:xfrm>
          <a:prstGeom prst="ellipse">
            <a:avLst/>
          </a:prstGeom>
          <a:ln w="19050">
            <a:solidFill>
              <a:srgbClr val="2E3B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0"/>
            <a:ext cx="9144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CE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analysis — 12 tables, 7 figures — available in DSB_Part1_Analysis.ipynb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GeoPulse Intelligence  |  Confidential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GeoPulse Intelligence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Commodities &amp; Currency Markets: An Executive Briefing</dc:title>
  <dc:subject>PptxGenJS Presentation</dc:subject>
  <dc:creator>GeoPulse Intelligence</dc:creator>
  <cp:lastModifiedBy>GeoPulse Intelligence</cp:lastModifiedBy>
  <cp:revision>1</cp:revision>
  <dcterms:created xsi:type="dcterms:W3CDTF">2026-07-13T11:15:42Z</dcterms:created>
  <dcterms:modified xsi:type="dcterms:W3CDTF">2026-07-13T11:15:42Z</dcterms:modified>
</cp:coreProperties>
</file>